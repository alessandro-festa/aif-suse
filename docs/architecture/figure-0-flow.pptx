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"/>
            <a:ext cx="1131868" cy="23774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81328" y="141732"/>
            <a:ext cx="10972" cy="274320"/>
          </a:xfrm>
          <a:prstGeom prst="roundRect">
            <a:avLst>
              <a:gd name="adj" fmla="val 4000"/>
            </a:avLst>
          </a:prstGeom>
          <a:solidFill>
            <a:srgbClr val="3E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-nvi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182880"/>
            <a:ext cx="830886" cy="182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118872"/>
            <a:ext cx="8805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Sovereign Agentic SecOps — a finding becomes a reviewed pull request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999999"/>
                </a:solidFill>
                <a:latin typeface="Arial"/>
              </a:rPr>
              <a:t>One query. Two human gates. The agent proposes a change to a manifest in git; Fleet applies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66928"/>
            <a:ext cx="11640312" cy="1042416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3970">
            <a:solidFill>
              <a:srgbClr val="81AE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60807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999999"/>
                </a:solidFill>
                <a:latin typeface="Arial"/>
              </a:rPr>
              <a:t>THE LOOP AROUND EVERY JOB — two SUSE prerequisites, one guardrail, one human, one flywheel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800100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81AEFC"/>
                </a:solidFill>
                <a:latin typeface="Arial"/>
              </a:rPr>
              <a:t>DETECT</a:t>
            </a:r>
          </a:p>
        </p:txBody>
      </p:sp>
      <p:pic>
        <p:nvPicPr>
          <p:cNvPr id="9" name="Picture 8" descr="validate-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615" y="91440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1252728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81AEFC"/>
                </a:solidFill>
                <a:latin typeface="Arial"/>
              </a:rPr>
              <a:t>SUSE Security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registry scan · runtime enforcer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0670" y="800100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76B900"/>
                </a:solidFill>
                <a:latin typeface="Arial"/>
              </a:rPr>
              <a:t>GOVERN</a:t>
            </a:r>
          </a:p>
        </p:txBody>
      </p:sp>
      <p:pic>
        <p:nvPicPr>
          <p:cNvPr id="12" name="Picture 11" descr="nvidia-n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080" y="914400"/>
            <a:ext cx="240089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20670" y="1252728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NeMo Guardrails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intercepts every model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7020" y="800100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FE7C3F"/>
                </a:solidFill>
                <a:latin typeface="Arial"/>
              </a:rPr>
              <a:t>APPROVE</a:t>
            </a:r>
          </a:p>
        </p:txBody>
      </p:sp>
      <p:pic>
        <p:nvPicPr>
          <p:cNvPr id="15" name="Picture 14" descr="develo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550" y="914400"/>
            <a:ext cx="273851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67021" y="1252728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The human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the plan gate, then the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3371" y="800100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81AEFC"/>
                </a:solidFill>
                <a:latin typeface="Arial"/>
              </a:rPr>
              <a:t>OBSERVE</a:t>
            </a:r>
          </a:p>
        </p:txBody>
      </p:sp>
      <p:pic>
        <p:nvPicPr>
          <p:cNvPr id="18" name="Picture 17" descr="obser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3666" y="91440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3371" y="1252728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81AEFC"/>
                </a:solidFill>
                <a:latin typeface="Arial"/>
              </a:rPr>
              <a:t>SUSE Observability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OTLP :4318 · one topology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9721" y="800100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76B900"/>
                </a:solidFill>
                <a:latin typeface="Arial"/>
              </a:rPr>
              <a:t>LEARN</a:t>
            </a:r>
          </a:p>
        </p:txBody>
      </p:sp>
      <p:pic>
        <p:nvPicPr>
          <p:cNvPr id="21" name="Picture 20" descr="training-mod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0016" y="91440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59721" y="1252728"/>
            <a:ext cx="2254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Data flywheel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the verdict becomes a label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1609344"/>
            <a:ext cx="0" cy="274320"/>
          </a:xfrm>
          <a:prstGeom prst="line">
            <a:avLst/>
          </a:prstGeom>
          <a:ln w="13970">
            <a:solidFill>
              <a:srgbClr val="3C8E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08960" y="1627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3C8EEF"/>
                </a:solidFill>
                <a:latin typeface="Arial"/>
              </a:rPr>
              <a:t>the finding · the scan export · policy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8778240" y="1609344"/>
            <a:ext cx="0" cy="274320"/>
          </a:xfrm>
          <a:prstGeom prst="line">
            <a:avLst/>
          </a:prstGeom>
          <a:ln w="13970">
            <a:solidFill>
              <a:srgbClr val="3C8E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869680" y="1627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3C8EEF"/>
                </a:solidFill>
                <a:latin typeface="Arial"/>
              </a:rPr>
              <a:t>telemetry · OTLP :4318 · audit</a:t>
            </a:r>
          </a:p>
        </p:txBody>
      </p:sp>
      <p:pic>
        <p:nvPicPr>
          <p:cNvPr id="27" name="Picture 26" descr="lap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2395728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74320" y="2862072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Analyst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no kubeconfig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33856" y="2596896"/>
            <a:ext cx="146304" cy="0"/>
          </a:xfrm>
          <a:prstGeom prst="line">
            <a:avLst/>
          </a:prstGeom>
          <a:ln w="13970">
            <a:solidFill>
              <a:srgbClr val="FE7C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280160" y="1883664"/>
            <a:ext cx="4974336" cy="2962656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19385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6B900"/>
                </a:solidFill>
                <a:latin typeface="Arial"/>
              </a:rPr>
              <a:t>AGENT PLANE — NVIDIA NeMo Agent Toolkit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6F6F6F"/>
                </a:solidFill>
                <a:latin typeface="Arial"/>
              </a:rPr>
              <a:t>AI-Q 2.2 · ns-secops-agents · eight agents read, two write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9888" y="2249424"/>
            <a:ext cx="4754880" cy="1133856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3E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463040" y="23042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6F6F6F"/>
                </a:solidFill>
                <a:latin typeface="Arial"/>
              </a:rPr>
              <a:t>THE JOB, IN ORDER</a:t>
            </a:r>
          </a:p>
        </p:txBody>
      </p:sp>
      <p:pic>
        <p:nvPicPr>
          <p:cNvPr id="34" name="Picture 33" descr="rou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2487168"/>
            <a:ext cx="420624" cy="4206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63040" y="2971800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Classify and triage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intent_classifier · one job, not fourteen</a:t>
            </a:r>
          </a:p>
        </p:txBody>
      </p:sp>
      <p:pic>
        <p:nvPicPr>
          <p:cNvPr id="36" name="Picture 35" descr="pl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0944" y="2487168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15184" y="2971800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The plan gate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clarifier_agent · holds for a human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60320" y="2697480"/>
            <a:ext cx="73152" cy="0"/>
          </a:xfrm>
          <a:prstGeom prst="line">
            <a:avLst/>
          </a:prstGeom>
          <a:ln w="11430">
            <a:solidFill>
              <a:srgbClr val="FE7C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ag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088" y="2487168"/>
            <a:ext cx="420624" cy="4206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67328" y="2971800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Research fan-out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deep_research_agent · workers ×N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712464" y="2697480"/>
            <a:ext cx="73152" cy="0"/>
          </a:xfrm>
          <a:prstGeom prst="line">
            <a:avLst/>
          </a:prstGeom>
          <a:ln w="1143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quality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5232" y="2487168"/>
            <a:ext cx="420624" cy="4206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19472" y="2971800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The cited brief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citation verifier · fails closed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864608" y="2697480"/>
            <a:ext cx="73152" cy="0"/>
          </a:xfrm>
          <a:prstGeom prst="line">
            <a:avLst/>
          </a:prstGeom>
          <a:ln w="1143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389888" y="3493008"/>
            <a:ext cx="4754880" cy="877824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3E3E3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463040" y="35478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6F6F6F"/>
                </a:solidFill>
                <a:latin typeface="Arial"/>
              </a:rPr>
              <a:t>THE PLUMBING UNDERNEATH</a:t>
            </a:r>
          </a:p>
        </p:txBody>
      </p:sp>
      <p:pic>
        <p:nvPicPr>
          <p:cNvPr id="47" name="Picture 46" descr="ap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41448" y="3712463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89888" y="405079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aiq_api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REST + async job API · a job outlives its connection</a:t>
            </a:r>
          </a:p>
        </p:txBody>
      </p:sp>
      <p:pic>
        <p:nvPicPr>
          <p:cNvPr id="49" name="Picture 48" descr="retriev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18888" y="3712463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767328" y="405079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knowledge_retrieval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foundational_rag over HTTP — the only retrieval seam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9888" y="44988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Every step above is a `_type` in config_secops.yml. Nothing here can reach the cluster API.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21424" y="1883664"/>
            <a:ext cx="3803904" cy="2962656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5240">
            <a:solidFill>
              <a:srgbClr val="C8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virtual-workstati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1152" y="1920240"/>
            <a:ext cx="182880" cy="1828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168896" y="1924812"/>
            <a:ext cx="3346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8E600"/>
                </a:solidFill>
                <a:latin typeface="Arial"/>
              </a:rPr>
              <a:t>SECURE AGENT SANDBOXES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6F6F6F"/>
                </a:solidFill>
                <a:latin typeface="Arial"/>
              </a:rPr>
              <a:t>SUSE SLE BCI 16 · no public PyPI · one writable git remote</a:t>
            </a:r>
          </a:p>
        </p:txBody>
      </p:sp>
      <p:pic>
        <p:nvPicPr>
          <p:cNvPr id="55" name="Picture 54" descr="run-comman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6952" y="2395728"/>
            <a:ext cx="420624" cy="42062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31152" y="288036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Remediation engineer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patch · build · pytest · opens the PR</a:t>
            </a:r>
          </a:p>
        </p:txBody>
      </p:sp>
      <p:pic>
        <p:nvPicPr>
          <p:cNvPr id="57" name="Picture 56" descr="analyze-dat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09176" y="2395728"/>
            <a:ext cx="420624" cy="42062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723376" y="288036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Validation agent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rebuild · rescan · diffs it on the PR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31152" y="3310128"/>
            <a:ext cx="3584448" cy="1060704"/>
          </a:xfrm>
          <a:prstGeom prst="roundRect">
            <a:avLst>
              <a:gd name="adj" fmla="val 4000"/>
            </a:avLst>
          </a:prstGeom>
          <a:noFill/>
          <a:ln w="11430">
            <a:solidFill>
              <a:srgbClr val="C8E6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004304" y="33649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C8E600"/>
                </a:solidFill>
                <a:latin typeface="Arial"/>
              </a:rPr>
              <a:t>NVIDIA OPENSHELL — ENFORCED OUT OF PROCESS</a:t>
            </a:r>
          </a:p>
        </p:txBody>
      </p:sp>
      <p:pic>
        <p:nvPicPr>
          <p:cNvPr id="61" name="Picture 60" descr="gatewa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73377" y="3547872"/>
            <a:ext cx="310365" cy="31089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31152" y="3922776"/>
            <a:ext cx="1194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C8E600"/>
                </a:solidFill>
                <a:latin typeface="Arial"/>
              </a:rPr>
              <a:t>Gateway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policy enforced out of process</a:t>
            </a:r>
          </a:p>
        </p:txBody>
      </p:sp>
      <p:pic>
        <p:nvPicPr>
          <p:cNvPr id="63" name="Picture 62" descr="firewal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67928" y="3547872"/>
            <a:ext cx="310896" cy="31089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125968" y="3922776"/>
            <a:ext cx="1194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C8E600"/>
                </a:solidFill>
                <a:latin typeface="Arial"/>
              </a:rPr>
              <a:t>L7 egress allow-list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FAIL-CLOSED · deny unless named</a:t>
            </a:r>
          </a:p>
        </p:txBody>
      </p:sp>
      <p:pic>
        <p:nvPicPr>
          <p:cNvPr id="65" name="Picture 64" descr="starfleet-api-key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82142" y="3547872"/>
            <a:ext cx="272100" cy="31089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20784" y="3922776"/>
            <a:ext cx="1194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C8E600"/>
                </a:solidFill>
                <a:latin typeface="Arial"/>
              </a:rPr>
              <a:t>Credential injection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the token never enters the sandbox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31152" y="4498848"/>
            <a:ext cx="3584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A jailbroken agent cannot widen this: the supervisor and the egress proxy are separate processes.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254496" y="2596896"/>
            <a:ext cx="566928" cy="0"/>
          </a:xfrm>
          <a:prstGeom prst="line">
            <a:avLst/>
          </a:prstGeom>
          <a:ln w="13970">
            <a:solidFill>
              <a:srgbClr val="C8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236208" y="2304288"/>
            <a:ext cx="603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C8E600"/>
                </a:solidFill>
                <a:latin typeface="Arial"/>
              </a:rPr>
              <a:t>plan approved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C8E600"/>
                </a:solidFill>
                <a:latin typeface="Arial"/>
              </a:rPr>
              <a:t>skills granted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26496" y="1938528"/>
            <a:ext cx="1088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FE7C3F"/>
                </a:solidFill>
                <a:latin typeface="Arial"/>
              </a:rPr>
              <a:t>TO PRODUCTION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25328" y="2596896"/>
            <a:ext cx="201168" cy="0"/>
          </a:xfrm>
          <a:prstGeom prst="line">
            <a:avLst/>
          </a:prstGeom>
          <a:ln w="13970">
            <a:solidFill>
              <a:srgbClr val="FE7C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cod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78540" y="2286000"/>
            <a:ext cx="384048" cy="38404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26496" y="2734056"/>
            <a:ext cx="1088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Pull request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the agent opens it · it cannot merge, approve or unprotect</a:t>
            </a:r>
          </a:p>
        </p:txBody>
      </p:sp>
      <p:pic>
        <p:nvPicPr>
          <p:cNvPr id="74" name="Picture 73" descr="data-integratio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78540" y="3291840"/>
            <a:ext cx="384048" cy="38404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0826496" y="3739896"/>
            <a:ext cx="1088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Fleet applies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GitOps · never kubectl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1370564" y="3145536"/>
            <a:ext cx="0" cy="128016"/>
          </a:xfrm>
          <a:prstGeom prst="line">
            <a:avLst/>
          </a:prstGeom>
          <a:ln w="11430">
            <a:solidFill>
              <a:srgbClr val="FE7C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274320" y="4974336"/>
            <a:ext cx="11640312" cy="1847088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524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logo-ai-factor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4048" y="5024628"/>
            <a:ext cx="1347340" cy="13716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810512" y="501091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999999"/>
                </a:solidFill>
                <a:latin typeface="Arial"/>
              </a:rPr>
              <a:t>with NVIDIA — what every turn above draws on. One release manifest, one support contract.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3657600" y="4846320"/>
            <a:ext cx="0" cy="128016"/>
          </a:xfrm>
          <a:prstGeom prst="line">
            <a:avLst/>
          </a:prstGeom>
          <a:ln w="1397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749039" y="486003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76B900"/>
                </a:solidFill>
                <a:latin typeface="Arial"/>
              </a:rPr>
              <a:t>every turn · foundational_rag over HTTP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4048" y="5248656"/>
            <a:ext cx="3733800" cy="118872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3E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75488" y="5294376"/>
            <a:ext cx="3550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MODELS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NVIDIA NIM Operator · NeMo Guardrails above</a:t>
            </a:r>
          </a:p>
        </p:txBody>
      </p:sp>
      <p:pic>
        <p:nvPicPr>
          <p:cNvPr id="84" name="Picture 83" descr="nvidia-llm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1063" y="5614416"/>
            <a:ext cx="288106" cy="329184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457200" y="6007608"/>
            <a:ext cx="1195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Nemotron 3 Ultra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plans · writes · verifies</a:t>
            </a:r>
          </a:p>
        </p:txBody>
      </p:sp>
      <p:pic>
        <p:nvPicPr>
          <p:cNvPr id="86" name="Picture 85" descr="nvidia-pretrained-model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06895" y="5614416"/>
            <a:ext cx="288106" cy="329184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653032" y="6007608"/>
            <a:ext cx="1195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Nemotron 3.5 Lightning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executes · most of the tokens</a:t>
            </a:r>
          </a:p>
        </p:txBody>
      </p:sp>
      <p:pic>
        <p:nvPicPr>
          <p:cNvPr id="88" name="Picture 87" descr="machine-learning-task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82188" y="5614416"/>
            <a:ext cx="329184" cy="32918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848864" y="6007608"/>
            <a:ext cx="1195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Embed + Rerank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retrieval models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5248656"/>
            <a:ext cx="3733800" cy="118872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3E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4319016" y="5294376"/>
            <a:ext cx="3550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KNOWLEDGE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NVIDIA NeMo Retriever · RAG Blueprint v2.6.0</a:t>
            </a:r>
          </a:p>
        </p:txBody>
      </p:sp>
      <p:pic>
        <p:nvPicPr>
          <p:cNvPr id="92" name="Picture 91" descr="search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04865" y="5614416"/>
            <a:ext cx="288600" cy="32918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300728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rag-server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hybrid, sparse-weighted</a:t>
            </a:r>
          </a:p>
        </p:txBody>
      </p:sp>
      <p:pic>
        <p:nvPicPr>
          <p:cNvPr id="94" name="Picture 93" descr="ingestio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01986" y="5614416"/>
            <a:ext cx="288106" cy="329184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197602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nv-ingest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tables + page elements</a:t>
            </a:r>
          </a:p>
        </p:txBody>
      </p:sp>
      <p:pic>
        <p:nvPicPr>
          <p:cNvPr id="96" name="Picture 95" descr="vector-databas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89393" y="5614416"/>
            <a:ext cx="307039" cy="32918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094476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Elasticsearch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the vector store</a:t>
            </a:r>
          </a:p>
        </p:txBody>
      </p:sp>
      <p:pic>
        <p:nvPicPr>
          <p:cNvPr id="98" name="Picture 97" descr="enterprise-data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75195" y="5614416"/>
            <a:ext cx="329184" cy="329184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991350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the corpus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CVE · SUSE-SU · SBOMs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071104" y="5248656"/>
            <a:ext cx="3733800" cy="118872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3E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8162544" y="5294376"/>
            <a:ext cx="3550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DATA FLYWHEEL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NVIDIA NeMo · graded and folded back weekly</a:t>
            </a:r>
          </a:p>
        </p:txBody>
      </p:sp>
      <p:pic>
        <p:nvPicPr>
          <p:cNvPr id="102" name="Picture 101" descr="history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28101" y="5614416"/>
            <a:ext cx="329184" cy="329184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144256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Relay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ATIF traces</a:t>
            </a:r>
          </a:p>
        </p:txBody>
      </p:sp>
      <p:pic>
        <p:nvPicPr>
          <p:cNvPr id="104" name="Picture 103" descr="data-lak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324975" y="5614416"/>
            <a:ext cx="329184" cy="32918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041130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Data Store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what it actually did</a:t>
            </a:r>
          </a:p>
        </p:txBody>
      </p:sp>
      <p:pic>
        <p:nvPicPr>
          <p:cNvPr id="106" name="Picture 105" descr="result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221849" y="5614416"/>
            <a:ext cx="329184" cy="32918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9938004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Evaluator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LLM-as-judge</a:t>
            </a:r>
          </a:p>
        </p:txBody>
      </p:sp>
      <p:pic>
        <p:nvPicPr>
          <p:cNvPr id="108" name="Picture 107" descr="model-adapter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18723" y="5614416"/>
            <a:ext cx="329184" cy="329184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834878" y="6007608"/>
            <a:ext cx="8968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Customizer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LoRA on the 30B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1370564" y="4078224"/>
            <a:ext cx="662940" cy="0"/>
          </a:xfrm>
          <a:prstGeom prst="line">
            <a:avLst/>
          </a:prstGeom>
          <a:ln w="12700">
            <a:solidFill>
              <a:srgbClr val="FE7C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2033504" y="4078224"/>
            <a:ext cx="0" cy="1682496"/>
          </a:xfrm>
          <a:prstGeom prst="line">
            <a:avLst/>
          </a:prstGeom>
          <a:ln w="12700">
            <a:solidFill>
              <a:srgbClr val="FE7C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11804904" y="5760720"/>
            <a:ext cx="228600" cy="0"/>
          </a:xfrm>
          <a:prstGeom prst="line">
            <a:avLst/>
          </a:prstGeom>
          <a:ln w="12700">
            <a:solidFill>
              <a:srgbClr val="FE7C3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052560" y="4860036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FE7C3F"/>
                </a:solidFill>
                <a:latin typeface="Arial"/>
              </a:rPr>
              <a:t>the human verdict · accepted trajectories</a:t>
            </a:r>
          </a:p>
        </p:txBody>
      </p:sp>
      <p:cxnSp>
        <p:nvCxnSpPr>
          <p:cNvPr id="114" name="Connector 113"/>
          <p:cNvCxnSpPr/>
          <p:nvPr/>
        </p:nvCxnSpPr>
        <p:spPr>
          <a:xfrm flipH="1">
            <a:off x="2011680" y="6675120"/>
            <a:ext cx="9271635" cy="0"/>
          </a:xfrm>
          <a:prstGeom prst="line">
            <a:avLst/>
          </a:prstGeom>
          <a:ln w="12700">
            <a:solidFill>
              <a:srgbClr val="76B9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103120" y="654710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76B900"/>
                </a:solidFill>
                <a:latin typeface="Arial"/>
              </a:rPr>
              <a:t>LoRA on the 30B, folded back weekly — the Ultra/Lightning split is why it pays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74320" y="6931152"/>
            <a:ext cx="2254910" cy="402336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143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7" name="Picture 116" descr="server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65760" y="7013448"/>
            <a:ext cx="237744" cy="237744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658368" y="7004304"/>
            <a:ext cx="1779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SUSE Linux Enterprise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SLES 16 · SL Micro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620670" y="6931152"/>
            <a:ext cx="2254910" cy="402336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143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0" name="Picture 119" descr="hybri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12110" y="7013448"/>
            <a:ext cx="237338" cy="23774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3004718" y="7004304"/>
            <a:ext cx="1779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Rancher Prime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lifecycle · Fleet GitOps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967020" y="6931152"/>
            <a:ext cx="2254910" cy="402336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143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3" name="Picture 122" descr="on-premises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058460" y="7013448"/>
            <a:ext cx="237338" cy="23774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5351068" y="7004304"/>
            <a:ext cx="1779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RKE2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CIS-hardened · air-gappable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313371" y="6931152"/>
            <a:ext cx="2254910" cy="402336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143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6" name="Picture 125" descr="stor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04811" y="7013448"/>
            <a:ext cx="237744" cy="23774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7697419" y="7004304"/>
            <a:ext cx="1779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SUSE Storage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model cache · vector store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659721" y="6931152"/>
            <a:ext cx="2254910" cy="402336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143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9" name="Picture 128" descr="comput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751161" y="7013448"/>
            <a:ext cx="237744" cy="237744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0043769" y="7004304"/>
            <a:ext cx="1779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NVIDIA GPU Operator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driver from registry.suse.com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74320" y="7454188"/>
            <a:ext cx="82296" cy="82296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402336" y="74432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BABABA"/>
                </a:solidFill>
                <a:latin typeface="Arial"/>
              </a:rPr>
              <a:t>NVIDIA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79064" y="7454188"/>
            <a:ext cx="82296" cy="82296"/>
          </a:xfrm>
          <a:prstGeom prst="roundRect">
            <a:avLst>
              <a:gd name="adj" fmla="val 4000"/>
            </a:avLst>
          </a:prstGeom>
          <a:solidFill>
            <a:srgbClr val="24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907080" y="74432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BABABA"/>
                </a:solidFill>
                <a:latin typeface="Arial"/>
              </a:rPr>
              <a:t>SUSE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207000" y="7454188"/>
            <a:ext cx="82296" cy="82296"/>
          </a:xfrm>
          <a:prstGeom prst="roundRect">
            <a:avLst>
              <a:gd name="adj" fmla="val 4000"/>
            </a:avLst>
          </a:prstGeom>
          <a:solidFill>
            <a:srgbClr val="81A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335016" y="74432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BABABA"/>
                </a:solidFill>
                <a:latin typeface="Arial"/>
              </a:rPr>
              <a:t>SUSE prerequisite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134188" y="7454188"/>
            <a:ext cx="82296" cy="82296"/>
          </a:xfrm>
          <a:prstGeom prst="roundRect">
            <a:avLst>
              <a:gd name="adj" fmla="val 4000"/>
            </a:avLst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2262204" y="74432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BABABA"/>
                </a:solidFill>
                <a:latin typeface="Arial"/>
              </a:rPr>
              <a:t>the hinge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754144" y="7454188"/>
            <a:ext cx="82296" cy="82296"/>
          </a:xfrm>
          <a:prstGeom prst="roundRect">
            <a:avLst>
              <a:gd name="adj" fmla="val 4000"/>
            </a:avLst>
          </a:prstGeom>
          <a:solidFill>
            <a:srgbClr val="FE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2882160" y="74432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BABABA"/>
                </a:solidFill>
                <a:latin typeface="Arial"/>
              </a:rPr>
              <a:t>human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120640" y="7443216"/>
            <a:ext cx="67939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6F6F6F"/>
                </a:solidFill>
                <a:latin typeface="Arial"/>
              </a:rPr>
              <a:t>Reference architecture. OpenShell, NemoClaw and the sandbox lifecycle are verified on a live SUSE cluster; the SecOps agent layer, the data flywheel and the three portfolio integrations are designed, not built.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