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7619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s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"/>
            <a:ext cx="1131868" cy="23774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481328" y="141732"/>
            <a:ext cx="10972" cy="274320"/>
          </a:xfrm>
          <a:prstGeom prst="roundRect">
            <a:avLst>
              <a:gd name="adj" fmla="val 4000"/>
            </a:avLst>
          </a:prstGeom>
          <a:solidFill>
            <a:srgbClr val="3E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logo-nvid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182880"/>
            <a:ext cx="830886" cy="182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08960" y="118872"/>
            <a:ext cx="8805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Sovereign Agentic SecOps — every component, named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>
                <a:solidFill>
                  <a:srgbClr val="999999"/>
                </a:solidFill>
                <a:latin typeface="Arial"/>
              </a:rPr>
              <a:t>Autonomous vulnerability remediation. Long-running, specialized agents that are allowed to 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603504"/>
            <a:ext cx="11640312" cy="603504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5240">
            <a:solidFill>
              <a:srgbClr val="FE7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develo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731520"/>
            <a:ext cx="346878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72237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E7C3F"/>
                </a:solidFill>
                <a:latin typeface="Arial"/>
              </a:rPr>
              <a:t>ANALYST WORKSTATION — OUTSIDE THE CLUSTER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BABABA"/>
                </a:solidFill>
                <a:latin typeface="Arial"/>
              </a:rPr>
              <a:t>No kubeconfig. No cluster credentials. No kubectl.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999999"/>
                </a:solidFill>
                <a:latin typeface="Arial"/>
              </a:rPr>
              <a:t>Each of the three is a human gate.</a:t>
            </a:r>
          </a:p>
        </p:txBody>
      </p:sp>
      <p:pic>
        <p:nvPicPr>
          <p:cNvPr id="9" name="Picture 8" descr="lap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740664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76472" y="731520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E7C3F"/>
                </a:solidFill>
                <a:latin typeface="Arial"/>
              </a:rPr>
              <a:t>nemoclaw connect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SSH over HTTP CONNECT to the gateway — attach to a running sandbox and watch</a:t>
            </a:r>
          </a:p>
        </p:txBody>
      </p:sp>
      <p:pic>
        <p:nvPicPr>
          <p:cNvPr id="11" name="Picture 10" descr="promp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740664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29400" y="731520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E7C3F"/>
                </a:solidFill>
                <a:latin typeface="Arial"/>
              </a:rPr>
              <a:t>aiq-frontend web UI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submit a finding, accept or narrow the plan, read the cited brief</a:t>
            </a:r>
          </a:p>
        </p:txBody>
      </p:sp>
      <p:pic>
        <p:nvPicPr>
          <p:cNvPr id="13" name="Picture 12" descr="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2288" y="740664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82328" y="731520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E7C3F"/>
                </a:solidFill>
                <a:latin typeface="Arial"/>
              </a:rPr>
              <a:t>git review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the only path to production. The agent opens the PR; it cannot merge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1316736"/>
            <a:ext cx="11640312" cy="5266944"/>
          </a:xfrm>
          <a:prstGeom prst="roundRect">
            <a:avLst>
              <a:gd name="adj" fmla="val 4000"/>
            </a:avLst>
          </a:prstGeom>
          <a:solidFill>
            <a:srgbClr val="0A112B"/>
          </a:solidFill>
          <a:ln w="17780">
            <a:solidFill>
              <a:srgbClr val="245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84048" y="1380744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81AEFC"/>
                </a:solidFill>
                <a:latin typeface="Arial"/>
              </a:rPr>
              <a:t>RKE2 CLUSTER  ·  managed by Rancher Prime  ·  customer estate, sovereign, air-gappable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1380744"/>
            <a:ext cx="4096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1">
                <a:solidFill>
                  <a:srgbClr val="3C8EEF"/>
                </a:solidFill>
                <a:latin typeface="Arial"/>
              </a:rPr>
              <a:t>ONE SUPPORT CONTRACT ACROSS EVERY COMPONENT BELOW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54880" y="1207008"/>
            <a:ext cx="0" cy="109728"/>
          </a:xfrm>
          <a:prstGeom prst="line">
            <a:avLst/>
          </a:prstGeom>
          <a:ln w="15875">
            <a:solidFill>
              <a:srgbClr val="FE7C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46320" y="12115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FE7C3F"/>
                </a:solidFill>
                <a:latin typeface="Arial"/>
              </a:rPr>
              <a:t>submit · approve the plan · review the PR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" y="1572768"/>
            <a:ext cx="11384280" cy="4462272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5240">
            <a:solidFill>
              <a:srgbClr val="3C8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logo-ai-facto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" y="1645920"/>
            <a:ext cx="1347340" cy="1371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938528" y="16230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999999"/>
                </a:solidFill>
                <a:latin typeface="Arial"/>
              </a:rPr>
              <a:t>with NVIDIA  —  Blueprints → AIWorkloads → Fleet HelmOps · three Blueprints, three catalog apps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1865376"/>
            <a:ext cx="6537960" cy="2176272"/>
          </a:xfrm>
          <a:prstGeom prst="roundRect">
            <a:avLst>
              <a:gd name="adj" fmla="val 4000"/>
            </a:avLst>
          </a:prstGeom>
          <a:solidFill>
            <a:srgbClr val="0B0B0B"/>
          </a:solidFill>
          <a:ln w="1524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" y="19385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76B900"/>
                </a:solidFill>
                <a:latin typeface="Arial"/>
              </a:rPr>
              <a:t>AGENT PLANE — NVIDIA NeMo Agent Toolkit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6F6F6F"/>
                </a:solidFill>
                <a:latin typeface="Arial"/>
              </a:rPr>
              <a:t>packaged today as AI-Q 2.2 · chart nvidia-blueprints/aiq2-web 2.2.1 · ns-secops-agents</a:t>
            </a:r>
          </a:p>
        </p:txBody>
      </p:sp>
      <p:pic>
        <p:nvPicPr>
          <p:cNvPr id="25" name="Picture 24" descr="ap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2280879"/>
            <a:ext cx="219456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3544" y="2267712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6B900"/>
                </a:solidFill>
                <a:latin typeface="Arial"/>
              </a:rPr>
              <a:t>aiq_api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front_end · REST + async Job API · Postgres job store</a:t>
            </a:r>
          </a:p>
        </p:txBody>
      </p:sp>
      <p:pic>
        <p:nvPicPr>
          <p:cNvPr id="27" name="Picture 26" descr="workflo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2578059"/>
            <a:ext cx="219456" cy="21945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3544" y="2564892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6B900"/>
                </a:solidFill>
                <a:latin typeface="Arial"/>
              </a:rPr>
              <a:t>chat_deepresearcher_agent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the workflow graph · escalation · clarifier · checkpointed</a:t>
            </a:r>
          </a:p>
        </p:txBody>
      </p:sp>
      <p:pic>
        <p:nvPicPr>
          <p:cNvPr id="29" name="Picture 28" descr="rout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" y="2875239"/>
            <a:ext cx="219456" cy="21945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3544" y="2862072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6B900"/>
                </a:solidFill>
                <a:latin typeface="Arial"/>
              </a:rPr>
              <a:t>intent_classifier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meta vs research, shallow vs deep · Lightning</a:t>
            </a:r>
          </a:p>
        </p:txBody>
      </p:sp>
      <p:pic>
        <p:nvPicPr>
          <p:cNvPr id="31" name="Picture 30" descr="pla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" y="3172419"/>
            <a:ext cx="219456" cy="21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23544" y="3159252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E7C3F"/>
                </a:solidFill>
                <a:latin typeface="Arial"/>
              </a:rPr>
              <a:t>clarifier_agent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THE HUMAN PLAN GATE · max_turns 3 · Ultra</a:t>
            </a:r>
          </a:p>
        </p:txBody>
      </p:sp>
      <p:pic>
        <p:nvPicPr>
          <p:cNvPr id="33" name="Picture 32" descr="analyze-dat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" y="3469599"/>
            <a:ext cx="219456" cy="21945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23544" y="3456432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6B900"/>
                </a:solidFill>
                <a:latin typeface="Arial"/>
              </a:rPr>
              <a:t>shallow_research_agent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triage · bounded llm turns and tool iterations</a:t>
            </a:r>
          </a:p>
        </p:txBody>
      </p:sp>
      <p:pic>
        <p:nvPicPr>
          <p:cNvPr id="35" name="Picture 34" descr="agen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" y="3766779"/>
            <a:ext cx="219456" cy="21945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23544" y="3753612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6B900"/>
                </a:solidFill>
                <a:latin typeface="Arial"/>
              </a:rPr>
              <a:t>deep_research_agent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orchestrator · source_router · planner · researcher ×N · writer</a:t>
            </a:r>
          </a:p>
        </p:txBody>
      </p:sp>
      <p:pic>
        <p:nvPicPr>
          <p:cNvPr id="37" name="Picture 36" descr="skill-bundl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40480" y="2280879"/>
            <a:ext cx="219456" cy="21945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123944" y="2267712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C8E600"/>
                </a:solidFill>
                <a:latin typeface="Arial"/>
              </a:rPr>
              <a:t>deep_research_skills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role→skill grants · require_sandbox: [research]</a:t>
            </a:r>
          </a:p>
        </p:txBody>
      </p:sp>
      <p:pic>
        <p:nvPicPr>
          <p:cNvPr id="39" name="Picture 38" descr="virtual-workstatio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40480" y="2578059"/>
            <a:ext cx="219456" cy="21945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123944" y="2564892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C8E600"/>
                </a:solidFill>
                <a:latin typeface="Arial"/>
              </a:rPr>
              <a:t>deep_research_sandbox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provider: openshell · network: allowlist</a:t>
            </a:r>
          </a:p>
        </p:txBody>
      </p:sp>
      <p:pic>
        <p:nvPicPr>
          <p:cNvPr id="41" name="Picture 40" descr="data-integration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40480" y="2875239"/>
            <a:ext cx="219456" cy="21945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123944" y="2862072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6B900"/>
                </a:solidFill>
                <a:latin typeface="Arial"/>
              </a:rPr>
              <a:t>data_source_registry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one source: the vulnerability corpus</a:t>
            </a:r>
          </a:p>
        </p:txBody>
      </p:sp>
      <p:pic>
        <p:nvPicPr>
          <p:cNvPr id="43" name="Picture 42" descr="retriever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40480" y="3172419"/>
            <a:ext cx="219456" cy="21945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123944" y="3159252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6B900"/>
                </a:solidFill>
                <a:latin typeface="Arial"/>
              </a:rPr>
              <a:t>knowledge_retrieval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backend: foundational_rag · top_k 10 — the retrieval seam</a:t>
            </a:r>
          </a:p>
        </p:txBody>
      </p:sp>
      <p:pic>
        <p:nvPicPr>
          <p:cNvPr id="45" name="Picture 44" descr="sql-databas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40480" y="3469599"/>
            <a:ext cx="204294" cy="21945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123944" y="3456432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6B900"/>
                </a:solidFill>
                <a:latin typeface="Arial"/>
              </a:rPr>
              <a:t>checkpoint_db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Postgres · a job outlives the connection that made it</a:t>
            </a:r>
          </a:p>
        </p:txBody>
      </p:sp>
      <p:pic>
        <p:nvPicPr>
          <p:cNvPr id="47" name="Picture 46" descr="export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40480" y="3766779"/>
            <a:ext cx="219456" cy="21945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123944" y="3753612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76B900"/>
                </a:solidFill>
                <a:latin typeface="Arial"/>
              </a:rPr>
              <a:t>telemetry · console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OTLP out to SUSE Observability :4318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462272" y="4041648"/>
            <a:ext cx="0" cy="109728"/>
          </a:xfrm>
          <a:prstGeom prst="line">
            <a:avLst/>
          </a:prstGeom>
          <a:ln w="19050">
            <a:solidFill>
              <a:srgbClr val="76B9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526280" y="403250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1">
                <a:solidFill>
                  <a:srgbClr val="76B900"/>
                </a:solidFill>
                <a:latin typeface="Arial"/>
              </a:rPr>
              <a:t>foundational_rag over HTTP — the only retrieval seam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78040" y="1865376"/>
            <a:ext cx="1755648" cy="2176272"/>
          </a:xfrm>
          <a:prstGeom prst="roundRect">
            <a:avLst>
              <a:gd name="adj" fmla="val 4000"/>
            </a:avLst>
          </a:prstGeom>
          <a:solidFill>
            <a:srgbClr val="0B0B0B"/>
          </a:solidFill>
          <a:ln w="15240">
            <a:solidFill>
              <a:srgbClr val="C8E6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269480" y="1938528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C8E600"/>
                </a:solidFill>
                <a:latin typeface="Arial"/>
              </a:rPr>
              <a:t>NVIDIA OpenShell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6F6F6F"/>
                </a:solidFill>
                <a:latin typeface="Arial"/>
              </a:rPr>
              <a:t>the enforcement boundary</a:t>
            </a:r>
          </a:p>
        </p:txBody>
      </p:sp>
      <p:pic>
        <p:nvPicPr>
          <p:cNvPr id="53" name="Picture 52" descr="gateway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69480" y="2280879"/>
            <a:ext cx="219081" cy="21945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552944" y="2267712"/>
            <a:ext cx="1307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C8E600"/>
                </a:solidFill>
                <a:latin typeface="Arial"/>
              </a:rPr>
              <a:t>Gateway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eBPF-backed policy, enforced out of process</a:t>
            </a:r>
          </a:p>
        </p:txBody>
      </p:sp>
      <p:pic>
        <p:nvPicPr>
          <p:cNvPr id="55" name="Picture 54" descr="firewall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69480" y="2701503"/>
            <a:ext cx="219456" cy="21945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552944" y="2688336"/>
            <a:ext cx="1307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C8E600"/>
                </a:solidFill>
                <a:latin typeface="Arial"/>
              </a:rPr>
              <a:t>L7 egress allow-list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FAIL-CLOSED · deny unless named</a:t>
            </a:r>
          </a:p>
        </p:txBody>
      </p:sp>
      <p:pic>
        <p:nvPicPr>
          <p:cNvPr id="57" name="Picture 56" descr="vault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69480" y="3122127"/>
            <a:ext cx="219456" cy="21945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552944" y="3108960"/>
            <a:ext cx="1307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C8E600"/>
                </a:solidFill>
                <a:latin typeface="Arial"/>
              </a:rPr>
              <a:t>Credential injection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at the boundary · full session recording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69480" y="3602736"/>
            <a:ext cx="1591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6F6F6F"/>
                </a:solidFill>
                <a:latin typeface="Arial"/>
              </a:rPr>
              <a:t>No kubeconfig is ever mounted. The agent's blast radius is one policy file, and Fleet reconciles that file.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43416" y="1865376"/>
            <a:ext cx="2615184" cy="2176272"/>
          </a:xfrm>
          <a:prstGeom prst="roundRect">
            <a:avLst>
              <a:gd name="adj" fmla="val 4000"/>
            </a:avLst>
          </a:prstGeom>
          <a:solidFill>
            <a:srgbClr val="0B0B0B"/>
          </a:solidFill>
          <a:ln w="15240">
            <a:solidFill>
              <a:srgbClr val="C8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9134856" y="1938528"/>
            <a:ext cx="2432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C8E600"/>
                </a:solidFill>
                <a:latin typeface="Arial"/>
              </a:rPr>
              <a:t>SECURE AGENT SANDBOXES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6F6F6F"/>
                </a:solidFill>
                <a:latin typeface="Arial"/>
              </a:rPr>
              <a:t>SUSE SLE BCI 16 · no public PyPI · one writable git remote</a:t>
            </a:r>
          </a:p>
        </p:txBody>
      </p:sp>
      <p:pic>
        <p:nvPicPr>
          <p:cNvPr id="62" name="Picture 61" descr="run-comman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34856" y="2335743"/>
            <a:ext cx="219456" cy="219456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418320" y="2322576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Remediation engineer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Ultra · the only agent that writes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90888" y="2596896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C8E600"/>
                </a:solidFill>
                <a:latin typeface="Arial"/>
              </a:rPr>
              <a:t>SKILLS  git clone / push · buildah build · zypper patch · pytest</a:t>
            </a:r>
          </a:p>
        </p:txBody>
      </p:sp>
      <p:pic>
        <p:nvPicPr>
          <p:cNvPr id="65" name="Picture 64" descr="quality-che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34856" y="3122127"/>
            <a:ext cx="219456" cy="219456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418320" y="310896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Validation agent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Lightning · grades the fix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90888" y="3383280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C8E600"/>
                </a:solidFill>
                <a:latin typeface="Arial"/>
              </a:rPr>
              <a:t>SKILLS  rebuild image · SUSE Security scan · scan diff · gate the PR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34856" y="3749040"/>
            <a:ext cx="2432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6F6F6F"/>
                </a:solidFill>
                <a:latin typeface="Arial"/>
              </a:rPr>
              <a:t>One sandbox per agent per job · scaled 0→1 on connect-intent, torn down after · snapshot and restore, not restart.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068312" y="2660904"/>
            <a:ext cx="109728" cy="0"/>
          </a:xfrm>
          <a:prstGeom prst="line">
            <a:avLst/>
          </a:prstGeom>
          <a:ln w="15875">
            <a:solidFill>
              <a:srgbClr val="C8E6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933688" y="2660904"/>
            <a:ext cx="109728" cy="0"/>
          </a:xfrm>
          <a:prstGeom prst="line">
            <a:avLst/>
          </a:prstGeom>
          <a:ln w="15875">
            <a:solidFill>
              <a:srgbClr val="C8E6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530352" y="4151376"/>
            <a:ext cx="3636264" cy="1755648"/>
          </a:xfrm>
          <a:prstGeom prst="roundRect">
            <a:avLst>
              <a:gd name="adj" fmla="val 4000"/>
            </a:avLst>
          </a:prstGeom>
          <a:solidFill>
            <a:srgbClr val="0B0B0B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21792" y="4215384"/>
            <a:ext cx="3453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76B900"/>
                </a:solidFill>
                <a:latin typeface="Arial"/>
              </a:rPr>
              <a:t>MODEL PLANE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6F6F6F"/>
                </a:solidFill>
                <a:latin typeface="Arial"/>
              </a:rPr>
              <a:t>NVIDIA NIM Operator 3.1.2 · NIMCache / NIMService · LiteLLM virtual keys</a:t>
            </a:r>
          </a:p>
        </p:txBody>
      </p:sp>
      <p:pic>
        <p:nvPicPr>
          <p:cNvPr id="73" name="Picture 72" descr="nvidia-llm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1792" y="4530303"/>
            <a:ext cx="192071" cy="219456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905256" y="4517136"/>
            <a:ext cx="316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Nemotron 3 Ultra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550B-A55B · plans, routes, writes, verifies</a:t>
            </a:r>
          </a:p>
        </p:txBody>
      </p:sp>
      <p:pic>
        <p:nvPicPr>
          <p:cNvPr id="75" name="Picture 74" descr="nvidia-pretrained-model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1792" y="4827483"/>
            <a:ext cx="192071" cy="21945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05256" y="4814316"/>
            <a:ext cx="316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Nemotron 3.5 Lightning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30B-A3B · executes · most of the tokens</a:t>
            </a:r>
          </a:p>
        </p:txBody>
      </p:sp>
      <p:pic>
        <p:nvPicPr>
          <p:cNvPr id="77" name="Picture 76" descr="machine-learning-task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21792" y="5124663"/>
            <a:ext cx="219456" cy="219456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905256" y="5111496"/>
            <a:ext cx="316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Nemotron 3 Embed 1B + Rerank VL 1B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retrieval · 2.2.2</a:t>
            </a:r>
          </a:p>
        </p:txBody>
      </p:sp>
      <p:pic>
        <p:nvPicPr>
          <p:cNvPr id="79" name="Picture 78" descr="nvidia-nemo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21792" y="5421843"/>
            <a:ext cx="192071" cy="219456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05256" y="5408676"/>
            <a:ext cx="316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NeMo Guardrails 25.6.0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intercepts every call above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1792" y="5705856"/>
            <a:ext cx="3453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6F6F6F"/>
                </a:solidFill>
                <a:latin typeface="Arial"/>
              </a:rPr>
              <a:t>Ultra plans, Lightning executes — and that split is the reason the flywheel pays.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276344" y="4151376"/>
            <a:ext cx="3636264" cy="1755648"/>
          </a:xfrm>
          <a:prstGeom prst="roundRect">
            <a:avLst>
              <a:gd name="adj" fmla="val 4000"/>
            </a:avLst>
          </a:prstGeom>
          <a:solidFill>
            <a:srgbClr val="0B0B0B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367784" y="4215384"/>
            <a:ext cx="3453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76B900"/>
                </a:solidFill>
                <a:latin typeface="Arial"/>
              </a:rPr>
              <a:t>KNOWLEDGE PLANE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6F6F6F"/>
                </a:solidFill>
                <a:latin typeface="Arial"/>
              </a:rPr>
              <a:t>NVIDIA NeMo Retriever · NVIDIA RAG Blueprint v2.6.0 · ns-secops-knowledge</a:t>
            </a:r>
          </a:p>
        </p:txBody>
      </p:sp>
      <p:pic>
        <p:nvPicPr>
          <p:cNvPr id="84" name="Picture 83" descr="search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367784" y="4530303"/>
            <a:ext cx="192400" cy="219456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4651248" y="4517136"/>
            <a:ext cx="316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rag-server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hybrid search, sparse-weighted — a NEVRA must match literally</a:t>
            </a:r>
          </a:p>
        </p:txBody>
      </p:sp>
      <p:pic>
        <p:nvPicPr>
          <p:cNvPr id="86" name="Picture 85" descr="ingestion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367784" y="4827483"/>
            <a:ext cx="192071" cy="219456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4651248" y="4814316"/>
            <a:ext cx="316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ingestor-server · nv-ingest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table structure + page elements on · OCR off</a:t>
            </a:r>
          </a:p>
        </p:txBody>
      </p:sp>
      <p:pic>
        <p:nvPicPr>
          <p:cNvPr id="88" name="Picture 87" descr="vector-databas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367784" y="5124663"/>
            <a:ext cx="204693" cy="219456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4651248" y="5111496"/>
            <a:ext cx="316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Elasticsearch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the vector store</a:t>
            </a:r>
          </a:p>
        </p:txBody>
      </p:sp>
      <p:pic>
        <p:nvPicPr>
          <p:cNvPr id="90" name="Picture 89" descr="enterprise-data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367784" y="5421843"/>
            <a:ext cx="219456" cy="219456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4651248" y="5408676"/>
            <a:ext cx="316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the corpus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CVE + SUSE-SU feeds · SBOMs · SUSE Security scan exports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67784" y="5705856"/>
            <a:ext cx="3453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6F6F6F"/>
                </a:solidFill>
                <a:latin typeface="Arial"/>
              </a:rPr>
              <a:t>The only retrieval in the architecture. If Retriever absorbs AI-Q's retrieval half, this band is what moves.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022336" y="4151376"/>
            <a:ext cx="3636264" cy="1755648"/>
          </a:xfrm>
          <a:prstGeom prst="roundRect">
            <a:avLst>
              <a:gd name="adj" fmla="val 4000"/>
            </a:avLst>
          </a:prstGeom>
          <a:solidFill>
            <a:srgbClr val="0B0B0B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8113776" y="4215384"/>
            <a:ext cx="3453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76B900"/>
                </a:solidFill>
                <a:latin typeface="Arial"/>
              </a:rPr>
              <a:t>DATA FLYWHEEL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6F6F6F"/>
                </a:solidFill>
                <a:latin typeface="Arial"/>
              </a:rPr>
              <a:t>NVIDIA NeMo · accepted trajectories and human verdicts, graded and folded back</a:t>
            </a:r>
          </a:p>
        </p:txBody>
      </p:sp>
      <p:pic>
        <p:nvPicPr>
          <p:cNvPr id="95" name="Picture 94" descr="history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113776" y="4530303"/>
            <a:ext cx="219456" cy="219456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8397240" y="4517136"/>
            <a:ext cx="316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Relay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ATIF traces · ships in the sandbox image</a:t>
            </a:r>
          </a:p>
        </p:txBody>
      </p:sp>
      <p:pic>
        <p:nvPicPr>
          <p:cNvPr id="97" name="Picture 96" descr="data-lak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113776" y="4827483"/>
            <a:ext cx="219456" cy="219456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8397240" y="4814316"/>
            <a:ext cx="316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Data Store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what it actually did</a:t>
            </a:r>
          </a:p>
        </p:txBody>
      </p:sp>
      <p:pic>
        <p:nvPicPr>
          <p:cNvPr id="99" name="Picture 98" descr="result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113776" y="5124663"/>
            <a:ext cx="219456" cy="219456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8397240" y="5111496"/>
            <a:ext cx="316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Evaluator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LLM-as-judge on accepted trajectories</a:t>
            </a:r>
          </a:p>
        </p:txBody>
      </p:sp>
      <p:pic>
        <p:nvPicPr>
          <p:cNvPr id="101" name="Picture 100" descr="model-adapter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113776" y="5421843"/>
            <a:ext cx="219456" cy="219456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8397240" y="5408676"/>
            <a:ext cx="316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Customizer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LoRA on the 30B, folded back weekly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113776" y="5705856"/>
            <a:ext cx="3453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6F6F6F"/>
                </a:solidFill>
                <a:latin typeface="Arial"/>
              </a:rPr>
              <a:t>NeMo Microservices is superseded by NeMo Platform from 1 October 2026.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02336" y="6108192"/>
            <a:ext cx="5637276" cy="438912"/>
          </a:xfrm>
          <a:prstGeom prst="roundRect">
            <a:avLst>
              <a:gd name="adj" fmla="val 4000"/>
            </a:avLst>
          </a:prstGeom>
          <a:solidFill>
            <a:srgbClr val="0A112B"/>
          </a:solidFill>
          <a:ln w="12700">
            <a:solidFill>
              <a:srgbClr val="81AEF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5" name="Picture 104" descr="validate-fil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84632" y="6217920"/>
            <a:ext cx="219456" cy="219456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768096" y="6153912"/>
            <a:ext cx="51800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81AEFC"/>
                </a:solidFill>
                <a:latin typeface="Arial"/>
              </a:rPr>
              <a:t>SUSE Security (NeuVector)   —   CUSTOMER PREREQUISITE, INTEGRATED NOT INSTALLED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Registry scanning · runtime enforcer · admission control · REST API :10443, read-only to the agent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6F6F6F"/>
                </a:solidFill>
                <a:latin typeface="Arial"/>
              </a:rPr>
              <a:t>Raises the signal and grades the fix. The agent may read the scanner; policy denies it the scanner's own rules.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149340" y="6108192"/>
            <a:ext cx="5637276" cy="438912"/>
          </a:xfrm>
          <a:prstGeom prst="roundRect">
            <a:avLst>
              <a:gd name="adj" fmla="val 4000"/>
            </a:avLst>
          </a:prstGeom>
          <a:solidFill>
            <a:srgbClr val="0A112B"/>
          </a:solidFill>
          <a:ln w="12700">
            <a:solidFill>
              <a:srgbClr val="81AEF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8" name="Picture 107" descr="observ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231636" y="6217920"/>
            <a:ext cx="219456" cy="219456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6515100" y="6153912"/>
            <a:ext cx="51800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81AEFC"/>
                </a:solidFill>
                <a:latin typeface="Arial"/>
              </a:rPr>
              <a:t>SUSE Observability   —   CUSTOMER PREREQUISITE, INTEGRATED NOT INSTALLED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999999"/>
                </a:solidFill>
                <a:latin typeface="Arial"/>
              </a:rPr>
              <a:t>OTLP :4318 from the agents and the RAG server · :4317 gRPC from the gateway · MCP topology · AI assistant OFF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6F6F6F"/>
                </a:solidFill>
                <a:latin typeface="Arial"/>
              </a:rPr>
              <a:t>One topology over models, retrieval, agents, sandboxes and the cluster underneath all of them.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74320" y="66248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1">
                <a:solidFill>
                  <a:srgbClr val="6F6F6F"/>
                </a:solidFill>
                <a:latin typeface="Arial"/>
              </a:rPr>
              <a:t>INFRASTRUCTURE AND ACCELERATED COMPUTE — CO-ENGINEERED AND SHIPPED AS ONE RELEASE MANIFEST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74320" y="6766560"/>
            <a:ext cx="1863852" cy="420624"/>
          </a:xfrm>
          <a:prstGeom prst="roundRect">
            <a:avLst>
              <a:gd name="adj" fmla="val 4000"/>
            </a:avLst>
          </a:prstGeom>
          <a:solidFill>
            <a:srgbClr val="0A112B"/>
          </a:solidFill>
          <a:ln w="12700">
            <a:solidFill>
              <a:srgbClr val="3C8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2" name="Picture 111" descr="server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38328" y="6885432"/>
            <a:ext cx="219456" cy="219456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603504" y="6839712"/>
            <a:ext cx="14615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3C8EEF"/>
                </a:solidFill>
                <a:latin typeface="Arial"/>
              </a:rPr>
              <a:t>SUSE Linux Enterprise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SLES 16 · SL Micro on every node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229612" y="6766560"/>
            <a:ext cx="1863852" cy="420624"/>
          </a:xfrm>
          <a:prstGeom prst="roundRect">
            <a:avLst>
              <a:gd name="adj" fmla="val 4000"/>
            </a:avLst>
          </a:prstGeom>
          <a:solidFill>
            <a:srgbClr val="0A112B"/>
          </a:solidFill>
          <a:ln w="12700">
            <a:solidFill>
              <a:srgbClr val="3C8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5" name="Picture 114" descr="hybri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293620" y="6885432"/>
            <a:ext cx="219081" cy="219456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2558796" y="6839712"/>
            <a:ext cx="14615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3C8EEF"/>
                </a:solidFill>
                <a:latin typeface="Arial"/>
              </a:rPr>
              <a:t>Rancher Prime 2.14.3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lifecycle · ClusterRepos · Fleet GitOps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184904" y="6766560"/>
            <a:ext cx="1863852" cy="420624"/>
          </a:xfrm>
          <a:prstGeom prst="roundRect">
            <a:avLst>
              <a:gd name="adj" fmla="val 4000"/>
            </a:avLst>
          </a:prstGeom>
          <a:solidFill>
            <a:srgbClr val="0A112B"/>
          </a:solidFill>
          <a:ln w="12700">
            <a:solidFill>
              <a:srgbClr val="3C8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8" name="Picture 117" descr="on-premises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248912" y="6885432"/>
            <a:ext cx="219081" cy="219456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4514088" y="6839712"/>
            <a:ext cx="14615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3C8EEF"/>
                </a:solidFill>
                <a:latin typeface="Arial"/>
              </a:rPr>
              <a:t>RKE2 1.35.6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CIS-hardened · FIPS-capable · air-gap installable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140196" y="6766560"/>
            <a:ext cx="1863852" cy="420624"/>
          </a:xfrm>
          <a:prstGeom prst="roundRect">
            <a:avLst>
              <a:gd name="adj" fmla="val 4000"/>
            </a:avLst>
          </a:prstGeom>
          <a:solidFill>
            <a:srgbClr val="0A112B"/>
          </a:solidFill>
          <a:ln w="12700">
            <a:solidFill>
              <a:srgbClr val="3C8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1" name="Picture 120" descr="stor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204204" y="6885432"/>
            <a:ext cx="219456" cy="219456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6469380" y="6839712"/>
            <a:ext cx="14615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3C8EEF"/>
                </a:solidFill>
                <a:latin typeface="Arial"/>
              </a:rPr>
              <a:t>SUSE Storage 1.11.3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model cache · vector store · checkpoints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095488" y="6766560"/>
            <a:ext cx="1863852" cy="420624"/>
          </a:xfrm>
          <a:prstGeom prst="roundRect">
            <a:avLst>
              <a:gd name="adj" fmla="val 4000"/>
            </a:avLst>
          </a:prstGeom>
          <a:solidFill>
            <a:srgbClr val="0B0B0B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4" name="Picture 123" descr="comput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159496" y="6885432"/>
            <a:ext cx="219456" cy="219456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8424672" y="6839712"/>
            <a:ext cx="14615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76B900"/>
                </a:solidFill>
                <a:latin typeface="Arial"/>
              </a:rPr>
              <a:t>NVIDIA GPU Operator v26.3.1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driver 595 from registry.suse.com · CDI by NRI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0050780" y="6766560"/>
            <a:ext cx="1863852" cy="420624"/>
          </a:xfrm>
          <a:prstGeom prst="roundRect">
            <a:avLst>
              <a:gd name="adj" fmla="val 4000"/>
            </a:avLst>
          </a:prstGeom>
          <a:solidFill>
            <a:srgbClr val="0B0B0B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7" name="Picture 126" descr="hardwar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114788" y="6885432"/>
            <a:ext cx="219456" cy="219456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10379964" y="6839712"/>
            <a:ext cx="14615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76B900"/>
                </a:solidFill>
                <a:latin typeface="Arial"/>
              </a:rPr>
              <a:t>NVIDIA accelerated compute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50" b="0">
                <a:solidFill>
                  <a:srgbClr val="999999"/>
                </a:solidFill>
                <a:latin typeface="Arial"/>
              </a:rPr>
              <a:t>MIG and DRA · Network Operator · Run:ai optional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274320" y="7298740"/>
            <a:ext cx="91440" cy="9144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411480" y="727862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999999"/>
                </a:solidFill>
                <a:latin typeface="Arial"/>
              </a:rPr>
              <a:t>NVIDIA — models, agent toolkit, sandbox runtime, GPU stack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2926080" y="7298740"/>
            <a:ext cx="91440" cy="91440"/>
          </a:xfrm>
          <a:prstGeom prst="roundRect">
            <a:avLst>
              <a:gd name="adj" fmla="val 4000"/>
            </a:avLst>
          </a:prstGeom>
          <a:solidFill>
            <a:srgbClr val="24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3063240" y="727862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999999"/>
                </a:solidFill>
                <a:latin typeface="Arial"/>
              </a:rPr>
              <a:t>SUSE — OS, Kubernetes, packaging, GitOps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837176" y="7298740"/>
            <a:ext cx="91440" cy="91440"/>
          </a:xfrm>
          <a:prstGeom prst="roundRect">
            <a:avLst>
              <a:gd name="adj" fmla="val 4000"/>
            </a:avLst>
          </a:prstGeom>
          <a:solidFill>
            <a:srgbClr val="81A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4974336" y="727862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999999"/>
                </a:solidFill>
                <a:latin typeface="Arial"/>
              </a:rPr>
              <a:t>SUSE platform prerequisite — integrated, not installed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324344" y="7298740"/>
            <a:ext cx="91440" cy="91440"/>
          </a:xfrm>
          <a:prstGeom prst="roundRect">
            <a:avLst>
              <a:gd name="adj" fmla="val 4000"/>
            </a:avLst>
          </a:prstGeom>
          <a:solidFill>
            <a:srgbClr val="C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7461504" y="727862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999999"/>
                </a:solidFill>
                <a:latin typeface="Arial"/>
              </a:rPr>
              <a:t>the hinge: agents in OpenShell sandboxes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235440" y="7298740"/>
            <a:ext cx="91440" cy="91440"/>
          </a:xfrm>
          <a:prstGeom prst="roundRect">
            <a:avLst>
              <a:gd name="adj" fmla="val 4000"/>
            </a:avLst>
          </a:prstGeom>
          <a:solidFill>
            <a:srgbClr val="FE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9372600" y="727862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999999"/>
                </a:solidFill>
                <a:latin typeface="Arial"/>
              </a:rPr>
              <a:t>human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74320" y="7461504"/>
            <a:ext cx="11640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sz="580" b="0">
                <a:solidFill>
                  <a:srgbClr val="6F6F6F"/>
                </a:solidFill>
                <a:latin typeface="Arial"/>
              </a:rPr>
              <a:t>Reference architecture. OpenShell, NemoClaw and the sandbox lifecycle are verified on a live SUSE cluster; the SecOps agent layer, the data flywheel and the three portfolio integrations are designed, not built.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